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21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73152" cy="3840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 Implementation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Blueprint &amp; Documentation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7315200" cy="0"/>
          </a:xfrm>
          <a:prstGeom prst="line">
            <a:avLst/>
          </a:prstGeom>
          <a:noFill/>
          <a:ln w="12700">
            <a:solidFill>
              <a:srgbClr val="D6E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NovaTex Industries Pvt. Ltd.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Fictitious Textile &amp; Apparel Manufacturer  |  Surat, Gujarat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234440" cy="347472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651760"/>
            <a:ext cx="1234440" cy="347472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651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651760"/>
            <a:ext cx="12344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651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218688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No.: 23052563  |  B. Tech CSE (SAP Data Analytics)  |  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NovaTex Industries Pvt. Ltd. — Fictitious Textile Manufacturer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3840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384048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Industry: Textile &amp; Apparel Manufacturing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Headquarters: Surat, Gujarat, India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Founded: 2005 (fictitious)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Employees: ~1,800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Turnover: INR 480 Crore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Plants: Surat, Ahmedabad, Pune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 Pan-India + Export (UAE, Bangladesh)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Type: B2B — Wholesale &amp; Export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45262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143000"/>
            <a:ext cx="4526280" cy="32918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1704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2704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accounting across 3 legacy systems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procurement on spreadsheets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inventory visibility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invoicing; no AR/AP 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45262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2971800"/>
            <a:ext cx="4526280" cy="32918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9992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Solution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3355848"/>
            <a:ext cx="4343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— unified ERP platform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FI + MM + SD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financial &amp; operational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P2P and O2C cycles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GST-compliant tax configuration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Organizational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of all SAP objects configured for NovaTex Industries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Code: NTXL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NovaTex Industries Pvt. Ltd.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2103120"/>
            <a:ext cx="2194560" cy="50292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NTX1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Plant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1783080"/>
            <a:ext cx="0" cy="320040"/>
          </a:xfrm>
          <a:prstGeom prst="line">
            <a:avLst/>
          </a:prstGeom>
          <a:noFill/>
          <a:ln w="12700">
            <a:solidFill>
              <a:srgbClr val="2E6D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103120"/>
            <a:ext cx="2194560" cy="50292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NTX2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783080"/>
            <a:ext cx="0" cy="320040"/>
          </a:xfrm>
          <a:prstGeom prst="line">
            <a:avLst/>
          </a:prstGeom>
          <a:noFill/>
          <a:ln w="12700">
            <a:solidFill>
              <a:srgbClr val="2E6D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103120"/>
            <a:ext cx="2194560" cy="50292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NTX3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 Plant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1783080"/>
            <a:ext cx="0" cy="320040"/>
          </a:xfrm>
          <a:prstGeom prst="line">
            <a:avLst/>
          </a:prstGeom>
          <a:noFill/>
          <a:ln w="12700">
            <a:solidFill>
              <a:srgbClr val="2E6D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" y="2926080"/>
            <a:ext cx="713232" cy="384048"/>
          </a:xfrm>
          <a:prstGeom prst="rect">
            <a:avLst/>
          </a:prstGeom>
          <a:solidFill>
            <a:srgbClr val="D6F0E0"/>
          </a:solidFill>
          <a:ln w="6350">
            <a:solidFill>
              <a:srgbClr val="1E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" y="2926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SL01 – Raw Mat.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2926080"/>
            <a:ext cx="713232" cy="384048"/>
          </a:xfrm>
          <a:prstGeom prst="rect">
            <a:avLst/>
          </a:prstGeom>
          <a:solidFill>
            <a:srgbClr val="D6F0E0"/>
          </a:solidFill>
          <a:ln w="6350">
            <a:solidFill>
              <a:srgbClr val="1E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926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SL02 – FG Store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00200" y="2926080"/>
            <a:ext cx="713232" cy="384048"/>
          </a:xfrm>
          <a:prstGeom prst="rect">
            <a:avLst/>
          </a:prstGeom>
          <a:solidFill>
            <a:srgbClr val="D6F0E0"/>
          </a:solidFill>
          <a:ln w="6350">
            <a:solidFill>
              <a:srgbClr val="1E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926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SL03 – Spare Parts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80160" y="2606040"/>
            <a:ext cx="0" cy="320040"/>
          </a:xfrm>
          <a:prstGeom prst="line">
            <a:avLst/>
          </a:prstGeom>
          <a:noFill/>
          <a:ln w="10160">
            <a:solidFill>
              <a:srgbClr val="1E6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657600"/>
            <a:ext cx="2194560" cy="50292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Org: PO01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Purchasing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3657600"/>
            <a:ext cx="219456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Org: SO01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NovaTex Sales India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4224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DC01 (Wholesale) + DC02 (Export)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DV01 (Cotton) + DV02 (Tech. Textile)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FI — Financial Accounting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Code, Chart of Accounts, GL Accounts, GST Tax Configuration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274320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 — NTXL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City: Surat, Gujarat, India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INR (Indian Rupee)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COA: NTCA (NovaTex Chart of Accounts)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Year: V3 (April – March)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Post. Period Variant: NTPP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Control Area: CCA1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Transaction: OX02 / OBY6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of Accounts (NTCA)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52704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Account Groups defined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range: 100000 – 999999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Groups: ASSET, CURR, RCON,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REVN, COGS, GSTX, CLRG…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Transaction: OB13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01752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Year — V3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40156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normal periods (Apr–Mar)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special closing periods (13–16)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standard fiscal calendar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Company Code NTXL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274320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GL Accounts (FS00)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52704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130000 — Trade Receivables (AR)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200000 — Trade Payables (AP)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900100 — GR/IR Clearing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400100 — Domestic Sales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501000 — Cost of Goods Sold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017520"/>
            <a:ext cx="274320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Configuration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40156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CGST Input (700100) / Output (700400)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SGST Input (700200) / Output (700500)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IGST Input (700300) / Output (700600)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codes: I1 (5%), I2 (12%), I3 (18%)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type: MWVS / MWAS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MM — Materials Management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Master, Vendor Master, Purchasing Organization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2743200" cy="32918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Master (MM01)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materials created across types: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ROH – 10 Raw Materials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HALB – 5 Semi-Finished Goods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FERT – 9 Finished Goods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VERP – 4 Packaging Materials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HAWA – 1 Trading Good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HIBE – 2 Consumables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Valuation: MAP for raw / Std. for FG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 types: PD, VB, X0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274320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Master (XK01)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52704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vendors configured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Recon. Account: 200000 (AP)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Terms: NT30 / NT45 / NT60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GSTIN captured for all vendors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TDS config: Section 194C / 194J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Org (PO01)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52704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Purchasing — All 3 Plants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PG01: Raw Material Team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PG02: Packaging Team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PG03: Capital Goods Team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Number Range: 45xxxxxxxxxx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3017520"/>
            <a:ext cx="56235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04495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Types &amp; Valuation Classes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401568"/>
            <a:ext cx="5440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 (Raw Material) → Val. Class 3000 / 3001 / 3002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HALB (Semi-Finished) → Val. Class 7900 | Std. Price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 (Finished Goods) → Val. Class 7920 / 7921 | Std. Price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VERP (Packaging) → Val. Class 3100 | Moving Avg. Price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Val. Class → GL Account mapping via OBYC (T-Key: BSX)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SD — Sales &amp; Distribution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Areas, Customer Master, Pricing, Billing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1417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Org.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Dist. Channel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Area Description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DC01 – Wholesale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DV01 – Cotton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 Wholesale — Cotton &amp; Blended Fabrics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DC01 – Wholesale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DV02 – Tech.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 Wholesale — Technical Textiles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DC02 – Export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DV01 – Cotton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— Cotton &amp; Blended Fabrics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DC02 – Export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DV02 – Tech.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— Technical Textiles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74320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743200"/>
            <a:ext cx="274320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770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Master (XD01)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312724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customers created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Group: CUST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Recon. Account: 130000 (AR)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Domestic: NT30 / NT45 payment terms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 LC / TT payment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Incoterms: EXW / FOB / CIF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274320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743200"/>
            <a:ext cx="274320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2770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Revenue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37560" y="312724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Procedure: RVAA01 (Domestic)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Pricing: RVAE01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Type: PR00 (Base Price)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Account Determination: VKOA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PR00 → GL 400100/400200/400300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Tax: MWAS → GL 700400/700500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0" y="2743200"/>
            <a:ext cx="26517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2743200"/>
            <a:ext cx="265176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2770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Documents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09360" y="3127248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Type: OR (Standard)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Type: LF (Outbound)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Type: F2 (Invoice)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Billing: FE (Export Invoice)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Memo: G2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Debit Memo: L2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Procure-to-Pay (P2P)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 + FI Integration | Scenario: 500 KG Raw Cotton @ INR 68/KG from Vendor V001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32588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ME51N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143000"/>
            <a:ext cx="1325880" cy="91440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55648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ME21N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81528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6976" y="1143000"/>
            <a:ext cx="1325880" cy="91440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36976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2856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143000"/>
            <a:ext cx="1325880" cy="9144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44184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143000"/>
            <a:ext cx="132588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25512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1143000"/>
            <a:ext cx="1325880" cy="91440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Stmt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FF_5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2423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Accounting 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(INR)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 (MIGO)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Raw Material Inventory (110000)  |  Cr. GR/IR Clearing (900100)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 (MIRO)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GR/IR Clearing (900100)  |  Cr. Vendor Payable (200000)  |  Dr. GST Input (700100+200)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34,000 + 1,700 GST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(F110)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Vendor Payable (200000)  |  Cr. Bank Clearing (900200)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Stmt (FF_5)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Bank Clearing (900200)  |  Cr. Bank Current A/C (100100)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Order-to-Cash (O2C)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+ FI Integration | Scenario: 2,000 MTR Cotton Shirting @ INR 95/MTR to Customer C001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3258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143000"/>
            <a:ext cx="132588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55648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VL01N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81528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6976" y="1143000"/>
            <a:ext cx="1325880" cy="91440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36976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GI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VL02N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2856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143000"/>
            <a:ext cx="1325880" cy="91440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44184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143000"/>
            <a:ext cx="1325880" cy="9144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F-28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25512" y="1600200"/>
            <a:ext cx="429768" cy="0"/>
          </a:xfrm>
          <a:prstGeom prst="line">
            <a:avLst/>
          </a:prstGeom>
          <a:noFill/>
          <a:ln w="31750">
            <a:solidFill>
              <a:srgbClr val="F0A5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1143000"/>
            <a:ext cx="132588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1143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Filing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J1IG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2423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Accounting 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(INR)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GI (VL02N)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Cost of Goods Sold (501000)  |  Cr. FG Inventory (113000)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1,76,000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Billing (VF01)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Trade Receivable (130000)  |  Cr. Revenue (400100)  |  Cr. CGST+SGST Output (700400+500)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2,12,800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(F-28)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Bank Current A/C (100100)  |  Cr. Trade Receivable (130000)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2,12,800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 Settlement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CGST Output (700400) + SGST Output (700500)  |  Cr. GST Input credits + Bank (net)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22,800 → Net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Integration 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 ↔ MM ↔ SD — Automatic Account Determination &amp; Real-Time Posting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2651760" cy="329184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 ↔ MM (OBYC)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 (101): Dr. Stock / Cr. GR-IR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Production (261): Dr. COGS / Cr. Stock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 (MIRO): Dr. GR-IR / Cr. 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Diff.: Dr./Cr. via PRD key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 Free (501): Dr. Stock / Cr. Offset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(122): Reverse GR entry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SPRO → OBYC transaction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14300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43000"/>
            <a:ext cx="2651760" cy="32918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 ↔ SD (VKOA)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52704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PGI (601): Dr. COGS / Cr. FG Inv.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Billing: Dr. AR / Cr. Revenue + GST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Memo: Reverse AR +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Payment: Special GL 'A'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Pmt: Dr. Bank / Cr. AR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GST: MWAS condition → 700400/500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SPRO → VKOA transaction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2834640" cy="32918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 ↔ SD (Logistics)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527048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Avail. Check: VA01 queries MM stock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Rule A/B configured in OVZ9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of Requirements → MRP demand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STO: MM PO → SD delivery across plants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determination from MM in SD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OVZ9, OVZG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ensures no overselling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Project Features &amp; Future Improvements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project distinctive — and where it can grow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  |  23052563  |  B.Tech CSE (SAP Data Analytics)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64008" cy="128016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16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GST-Compliant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Config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184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CGST/SGST/IGST all configured with correct GL mapping per Indian GST law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64008" cy="12801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16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plants (Surat, Ahmedabad, Pune) under 1 centralized purchasing org.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06040"/>
            <a:ext cx="64008" cy="128016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9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5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08152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domestic (DC01) and export (DC02) channels with different pricing and billing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06040"/>
            <a:ext cx="64008" cy="12801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79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Class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Accounting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08152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inventory movements auto-post to correct GL via OBYC — zero manual entries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3192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 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PP (Production Planning) integration  •  QM (Quality Management)  •  BW/4HANA Analytics dashboards  •  EDI for automated sales orders  •  SAP Fiori mobile apps  •  GST return filing automation via GSTN API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7315200" cy="3886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640080"/>
            <a:ext cx="73152" cy="3886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7724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1691640"/>
            <a:ext cx="4572000" cy="0"/>
          </a:xfrm>
          <a:prstGeom prst="line">
            <a:avLst/>
          </a:prstGeom>
          <a:noFill/>
          <a:ln w="12700">
            <a:solidFill>
              <a:srgbClr val="D6E8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NovaTex Industries Pvt. Ltd.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 Implementation — FI | MM | SD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Ayushmaan Sinha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23052563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Tech CSE (SAP Data Analytics)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Platform: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(Fictitious Implementation)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2519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is fictitious and for academic purposes only.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Microsoft Office PowerPoint</Application>
  <PresentationFormat>On-screen Show (16:9)</PresentationFormat>
  <Paragraphs>289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ERP Implementation — NovaTex Industries</dc:title>
  <dc:subject>PptxGenJS Presentation</dc:subject>
  <dc:creator>Ayushmaan Sinha</dc:creator>
  <cp:lastModifiedBy>Ayushmaan Sinha</cp:lastModifiedBy>
  <cp:revision>2</cp:revision>
  <dcterms:created xsi:type="dcterms:W3CDTF">2026-04-20T13:38:56Z</dcterms:created>
  <dcterms:modified xsi:type="dcterms:W3CDTF">2026-04-20T14:04:25Z</dcterms:modified>
</cp:coreProperties>
</file>